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5" r:id="rId11"/>
    <p:sldId id="268" r:id="rId12"/>
    <p:sldId id="263" r:id="rId13"/>
    <p:sldId id="269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C0ACC-3751-4DF0-B20B-F76789AF2E37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63D0A-ED82-497F-95D5-D784A39F4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56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63D0A-ED82-497F-95D5-D784A39F48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73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9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0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6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85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6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3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7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0004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04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3168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5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95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3C453-8712-42F0-8051-88FBB010BF8C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97E359C-318D-434E-896B-2A4D01B5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54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ytoplankton.net/neurons-2/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8-021-96103-2/" TargetMode="External"/><Relationship Id="rId2" Type="http://schemas.openxmlformats.org/officeDocument/2006/relationships/hyperlink" Target="https://blog.jovian.ai/using-pytorch-to-classify-flowers-ce297310a412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fficientdl.com/faster-deep-learning-in-pytorch-a-guide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youtu.be/JR1iGP4eISs" TargetMode="External"/><Relationship Id="rId7" Type="http://schemas.openxmlformats.org/officeDocument/2006/relationships/image" Target="../media/image7.svg"/><Relationship Id="rId2" Type="http://schemas.openxmlformats.org/officeDocument/2006/relationships/hyperlink" Target="https://github.com/EranAvr/DeepLearningFinal.gi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youtu.be/gwZsTQw7_Vo" TargetMode="External"/><Relationship Id="rId4" Type="http://schemas.openxmlformats.org/officeDocument/2006/relationships/hyperlink" Target="https://youtu.be/sjqizr5yzvE" TargetMode="External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BC7A7A-5C62-AAF5-4697-B3B0BCD91309}"/>
              </a:ext>
            </a:extLst>
          </p:cNvPr>
          <p:cNvSpPr/>
          <p:nvPr/>
        </p:nvSpPr>
        <p:spPr>
          <a:xfrm>
            <a:off x="2017500" y="674001"/>
            <a:ext cx="6878807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10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זיהוי מחלות</a:t>
            </a:r>
          </a:p>
          <a:p>
            <a:pPr algn="ctr"/>
            <a:r>
              <a:rPr lang="he-IL" sz="10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בפירות</a:t>
            </a:r>
            <a:endParaRPr lang="en-US" sz="10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8D46F6-6015-0270-7C82-45D938CAF999}"/>
              </a:ext>
            </a:extLst>
          </p:cNvPr>
          <p:cNvSpPr/>
          <p:nvPr/>
        </p:nvSpPr>
        <p:spPr>
          <a:xfrm>
            <a:off x="2766102" y="4153677"/>
            <a:ext cx="538160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פרוייקט   בלמידה   עמוקה</a:t>
            </a:r>
          </a:p>
          <a:p>
            <a:pPr algn="ctr"/>
            <a:r>
              <a:rPr lang="he-IL" sz="36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ורשתות   נויירונים</a:t>
            </a:r>
            <a:endParaRPr lang="en-US" sz="36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98A9A-ED86-840D-DB7B-7B68B4F9203A}"/>
              </a:ext>
            </a:extLst>
          </p:cNvPr>
          <p:cNvSpPr txBox="1"/>
          <p:nvPr/>
        </p:nvSpPr>
        <p:spPr>
          <a:xfrm>
            <a:off x="9917723" y="5556738"/>
            <a:ext cx="1969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מגיש:</a:t>
            </a:r>
          </a:p>
          <a:p>
            <a:pPr algn="r" rtl="1"/>
            <a:r>
              <a:rPr lang="he-IL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ערן אברהם</a:t>
            </a:r>
          </a:p>
          <a:p>
            <a:pPr algn="r" rtl="1"/>
            <a:r>
              <a:rPr lang="he-IL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302969068</a:t>
            </a: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5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תוכן עניינים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4E7F3F0-E2D6-E75A-B859-B873E1FC0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245352"/>
              </p:ext>
            </p:extLst>
          </p:nvPr>
        </p:nvGraphicFramePr>
        <p:xfrm>
          <a:off x="677863" y="2160588"/>
          <a:ext cx="85963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720893973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327702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עמוד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נושא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715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מטרת התוכנה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64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קלט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64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פלט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31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תוכנית מימוש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87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בחירת המודל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0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10-11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כלים וספריות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90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שיפורים אפשריים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588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14-15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וידאו וקוד מקור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28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0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מטרת התוכנה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200000"/>
              </a:lnSpc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מטרת </a:t>
            </a:r>
            <a:r>
              <a:rPr lang="he-I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הפרוייקט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היא לממש מערכת ראייה ממוחשבת לצורך זיהוי פגמים בפירות-הדר.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>
              <a:lnSpc>
                <a:spcPct val="200000"/>
              </a:lnSpc>
            </a:pPr>
            <a:r>
              <a:rPr lang="he-IL" sz="2000" dirty="0"/>
              <a:t>המערכת תבצע זיהוי של פגמים המשותפים לפירות-הדר שונים.</a:t>
            </a:r>
          </a:p>
          <a:p>
            <a:pPr algn="r" rtl="1">
              <a:lnSpc>
                <a:spcPct val="200000"/>
              </a:lnSpc>
            </a:pPr>
            <a:r>
              <a:rPr lang="he-IL" sz="2000" dirty="0"/>
              <a:t>המערכת תקטלג תמונות של פירות-הדר על פי סוג המחלה שתזהה בהן.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380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קלט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200000"/>
              </a:lnSpc>
            </a:pPr>
            <a:r>
              <a:rPr lang="he-IL" sz="2000" dirty="0"/>
              <a:t>המערכת מקבלת כקלט אוסף קבצי תמונות (או קובץ תמונה בודד), המציגות פרי הדר. </a:t>
            </a:r>
          </a:p>
          <a:p>
            <a:pPr algn="r" rtl="1">
              <a:lnSpc>
                <a:spcPct val="200000"/>
              </a:lnSpc>
            </a:pPr>
            <a:r>
              <a:rPr lang="he-IL" sz="2000" dirty="0"/>
              <a:t>התמונות יכולות להיות בפורמט </a:t>
            </a:r>
            <a:r>
              <a:rPr lang="en-US" sz="2000" dirty="0"/>
              <a:t>RGB</a:t>
            </a:r>
            <a:r>
              <a:rPr lang="he-IL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9686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פלט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087811"/>
          </a:xfrm>
        </p:spPr>
        <p:txBody>
          <a:bodyPr>
            <a:noAutofit/>
          </a:bodyPr>
          <a:lstStyle/>
          <a:p>
            <a:pPr algn="r" rtl="1">
              <a:lnSpc>
                <a:spcPct val="200000"/>
              </a:lnSpc>
            </a:pPr>
            <a:r>
              <a:rPr lang="he-IL" sz="2000" dirty="0"/>
              <a:t>המערכת תוציא פלט בשני פורמטים: </a:t>
            </a:r>
            <a:r>
              <a:rPr lang="en-US" sz="2000" dirty="0"/>
              <a:t>CSV</a:t>
            </a:r>
            <a:r>
              <a:rPr lang="he-IL" sz="2000" dirty="0"/>
              <a:t> וקבצי תמונות.</a:t>
            </a:r>
          </a:p>
          <a:p>
            <a:pPr algn="r" rtl="1">
              <a:lnSpc>
                <a:spcPct val="200000"/>
              </a:lnSpc>
            </a:pPr>
            <a:r>
              <a:rPr lang="he-IL" sz="2000" dirty="0"/>
              <a:t>המערכת תיצור קובץ </a:t>
            </a:r>
            <a:r>
              <a:rPr lang="en-US" sz="2000" dirty="0"/>
              <a:t>CSV</a:t>
            </a:r>
            <a:r>
              <a:rPr lang="he-IL" sz="2000" dirty="0"/>
              <a:t> המפרט את תהליך בדיקת-המערכת. בנוסף, המערכת תיצור קובץ תמונה לכל </a:t>
            </a:r>
            <a:r>
              <a:rPr lang="en-US" sz="2000" dirty="0"/>
              <a:t>batch</a:t>
            </a:r>
            <a:r>
              <a:rPr lang="he-IL" sz="2000" dirty="0"/>
              <a:t> עם מטריצת תמונות ותחזיות מתאימות.</a:t>
            </a:r>
          </a:p>
          <a:p>
            <a:pPr algn="r" rtl="1">
              <a:lnSpc>
                <a:spcPct val="200000"/>
              </a:lnSpc>
            </a:pPr>
            <a:r>
              <a:rPr lang="he-IL" sz="2000" dirty="0"/>
              <a:t>המערכת תדע לזהות אחת מבין 2 המחלות הנתונות:</a:t>
            </a:r>
          </a:p>
          <a:p>
            <a:pPr lvl="1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Black Spots</a:t>
            </a:r>
            <a:endParaRPr lang="he-IL" sz="2000" dirty="0"/>
          </a:p>
          <a:p>
            <a:pPr lvl="1" algn="r" rt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Canker</a:t>
            </a:r>
          </a:p>
        </p:txBody>
      </p:sp>
    </p:spTree>
    <p:extLst>
      <p:ext uri="{BB962C8B-B14F-4D97-AF65-F5344CB8AC3E}">
        <p14:creationId xmlns:p14="http://schemas.microsoft.com/office/powerpoint/2010/main" val="2074606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4669"/>
          </a:xfrm>
        </p:spPr>
        <p:txBody>
          <a:bodyPr/>
          <a:lstStyle/>
          <a:p>
            <a:pPr algn="ctr" rtl="1"/>
            <a:r>
              <a:rPr lang="he-IL" dirty="0"/>
              <a:t>תוכנית מימוש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184476-4B1A-913D-9179-AA62121BF7CA}"/>
              </a:ext>
            </a:extLst>
          </p:cNvPr>
          <p:cNvSpPr/>
          <p:nvPr/>
        </p:nvSpPr>
        <p:spPr>
          <a:xfrm>
            <a:off x="5067821" y="3290281"/>
            <a:ext cx="2377381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My Model</a:t>
            </a:r>
          </a:p>
        </p:txBody>
      </p:sp>
      <p:pic>
        <p:nvPicPr>
          <p:cNvPr id="7" name="Graphic 6" descr="Images outline">
            <a:extLst>
              <a:ext uri="{FF2B5EF4-FFF2-40B4-BE49-F238E27FC236}">
                <a16:creationId xmlns:a16="http://schemas.microsoft.com/office/drawing/2014/main" id="{38C24455-71AC-FF9F-9C2C-4C6B59A44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6802" y="3204189"/>
            <a:ext cx="914400" cy="914400"/>
          </a:xfrm>
          <a:prstGeom prst="rect">
            <a:avLst/>
          </a:prstGeom>
        </p:spPr>
      </p:pic>
      <p:pic>
        <p:nvPicPr>
          <p:cNvPr id="12" name="Graphic 11" descr="Images outline">
            <a:extLst>
              <a:ext uri="{FF2B5EF4-FFF2-40B4-BE49-F238E27FC236}">
                <a16:creationId xmlns:a16="http://schemas.microsoft.com/office/drawing/2014/main" id="{11EB9D38-FC8D-5A6C-F28F-04841CC1A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4246" y="4611081"/>
            <a:ext cx="914400" cy="914400"/>
          </a:xfrm>
          <a:prstGeom prst="rect">
            <a:avLst/>
          </a:prstGeom>
        </p:spPr>
      </p:pic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386C39A8-49F7-7CEC-A048-6E666B001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7126" y="5607872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1B465C-5206-2576-1138-BAABB47E7EB0}"/>
              </a:ext>
            </a:extLst>
          </p:cNvPr>
          <p:cNvSpPr txBox="1"/>
          <p:nvPr/>
        </p:nvSpPr>
        <p:spPr>
          <a:xfrm>
            <a:off x="307144" y="4611081"/>
            <a:ext cx="2307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dirty="0">
                <a:solidFill>
                  <a:schemeClr val="accent1"/>
                </a:solidFill>
              </a:rPr>
              <a:t>קבצי תמונות המציגים מטריצת-תמונות עבור כל </a:t>
            </a:r>
            <a:r>
              <a:rPr lang="en-US" dirty="0">
                <a:solidFill>
                  <a:schemeClr val="accent1"/>
                </a:solidFill>
              </a:rPr>
              <a:t>batch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E89143-E65A-9C37-43B9-D1D2C3F7FFB2}"/>
              </a:ext>
            </a:extLst>
          </p:cNvPr>
          <p:cNvSpPr txBox="1"/>
          <p:nvPr/>
        </p:nvSpPr>
        <p:spPr>
          <a:xfrm>
            <a:off x="1320024" y="5598942"/>
            <a:ext cx="2307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dirty="0">
                <a:solidFill>
                  <a:schemeClr val="accent1"/>
                </a:solidFill>
              </a:rPr>
              <a:t>קובץ </a:t>
            </a:r>
            <a:r>
              <a:rPr lang="en-US" dirty="0">
                <a:solidFill>
                  <a:schemeClr val="accent1"/>
                </a:solidFill>
              </a:rPr>
              <a:t>CSV</a:t>
            </a:r>
            <a:r>
              <a:rPr lang="he-IL" dirty="0">
                <a:solidFill>
                  <a:schemeClr val="accent1"/>
                </a:solidFill>
              </a:rPr>
              <a:t> המרכז את תוצאות הבדיקה של המערכת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D5E2ED-60D8-1D4A-844B-7827AFDCC76B}"/>
              </a:ext>
            </a:extLst>
          </p:cNvPr>
          <p:cNvSpPr txBox="1"/>
          <p:nvPr/>
        </p:nvSpPr>
        <p:spPr>
          <a:xfrm>
            <a:off x="8816802" y="4118589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dirty="0">
                <a:solidFill>
                  <a:schemeClr val="accent1"/>
                </a:solidFill>
              </a:rPr>
              <a:t>אוסף</a:t>
            </a:r>
          </a:p>
          <a:p>
            <a:pPr algn="ctr" rtl="1"/>
            <a:r>
              <a:rPr lang="he-IL" dirty="0">
                <a:solidFill>
                  <a:schemeClr val="accent1"/>
                </a:solidFill>
              </a:rPr>
              <a:t>תמונות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3" name="Graphic 2" descr="Images outline">
            <a:extLst>
              <a:ext uri="{FF2B5EF4-FFF2-40B4-BE49-F238E27FC236}">
                <a16:creationId xmlns:a16="http://schemas.microsoft.com/office/drawing/2014/main" id="{2A5D9118-B042-E7C4-0460-6B53A27B6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7126" y="1473199"/>
            <a:ext cx="914400" cy="914400"/>
          </a:xfrm>
          <a:prstGeom prst="rect">
            <a:avLst/>
          </a:prstGeom>
        </p:spPr>
      </p:pic>
      <p:pic>
        <p:nvPicPr>
          <p:cNvPr id="4" name="Graphic 3" descr="Document with solid fill">
            <a:extLst>
              <a:ext uri="{FF2B5EF4-FFF2-40B4-BE49-F238E27FC236}">
                <a16:creationId xmlns:a16="http://schemas.microsoft.com/office/drawing/2014/main" id="{CA4F5F7D-6E25-A528-C038-B4FF796C4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4246" y="246999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CCCB9-305C-463C-D60D-7BB2BFB3E222}"/>
              </a:ext>
            </a:extLst>
          </p:cNvPr>
          <p:cNvSpPr txBox="1"/>
          <p:nvPr/>
        </p:nvSpPr>
        <p:spPr>
          <a:xfrm>
            <a:off x="1320024" y="1473199"/>
            <a:ext cx="2307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dirty="0">
                <a:solidFill>
                  <a:schemeClr val="accent1"/>
                </a:solidFill>
              </a:rPr>
              <a:t>קובץ תמונה המציג גרף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running-loss per epoch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20E6D-0043-1B25-1063-C9F6A985D44F}"/>
              </a:ext>
            </a:extLst>
          </p:cNvPr>
          <p:cNvSpPr txBox="1"/>
          <p:nvPr/>
        </p:nvSpPr>
        <p:spPr>
          <a:xfrm>
            <a:off x="307144" y="2461060"/>
            <a:ext cx="2307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dirty="0">
                <a:solidFill>
                  <a:schemeClr val="accent1"/>
                </a:solidFill>
              </a:rPr>
              <a:t>קובץ </a:t>
            </a:r>
            <a:r>
              <a:rPr lang="en-US" dirty="0">
                <a:solidFill>
                  <a:schemeClr val="accent1"/>
                </a:solidFill>
              </a:rPr>
              <a:t>CSV</a:t>
            </a:r>
            <a:r>
              <a:rPr lang="he-IL" dirty="0">
                <a:solidFill>
                  <a:schemeClr val="accent1"/>
                </a:solidFill>
              </a:rPr>
              <a:t> לסיכום אימון המערכת. מציג </a:t>
            </a:r>
            <a:r>
              <a:rPr lang="en-US" dirty="0">
                <a:solidFill>
                  <a:schemeClr val="accent1"/>
                </a:solidFill>
              </a:rPr>
              <a:t>Running-loss</a:t>
            </a:r>
            <a:r>
              <a:rPr lang="he-IL" dirty="0">
                <a:solidFill>
                  <a:schemeClr val="accent1"/>
                </a:solidFill>
              </a:rPr>
              <a:t> ו</a:t>
            </a:r>
            <a:r>
              <a:rPr lang="en-US" dirty="0">
                <a:solidFill>
                  <a:schemeClr val="accent1"/>
                </a:solidFill>
              </a:rPr>
              <a:t>avg-loss</a:t>
            </a:r>
            <a:r>
              <a:rPr lang="he-IL" dirty="0">
                <a:solidFill>
                  <a:schemeClr val="accent1"/>
                </a:solidFill>
              </a:rPr>
              <a:t>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13A4FC58-D6B8-442B-B1E5-12361344F7F0}"/>
              </a:ext>
            </a:extLst>
          </p:cNvPr>
          <p:cNvSpPr/>
          <p:nvPr/>
        </p:nvSpPr>
        <p:spPr>
          <a:xfrm>
            <a:off x="7680960" y="3798277"/>
            <a:ext cx="914400" cy="32031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B66F1D-1868-0B90-D275-B01346AE58F2}"/>
              </a:ext>
            </a:extLst>
          </p:cNvPr>
          <p:cNvCxnSpPr>
            <a:cxnSpLocks/>
          </p:cNvCxnSpPr>
          <p:nvPr/>
        </p:nvCxnSpPr>
        <p:spPr>
          <a:xfrm flipH="1" flipV="1">
            <a:off x="126609" y="3967089"/>
            <a:ext cx="4754880" cy="893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Arrow: Bent 20">
            <a:extLst>
              <a:ext uri="{FF2B5EF4-FFF2-40B4-BE49-F238E27FC236}">
                <a16:creationId xmlns:a16="http://schemas.microsoft.com/office/drawing/2014/main" id="{163BABEA-35F2-4D29-4475-8A264B58DCE1}"/>
              </a:ext>
            </a:extLst>
          </p:cNvPr>
          <p:cNvSpPr/>
          <p:nvPr/>
        </p:nvSpPr>
        <p:spPr>
          <a:xfrm rot="16200000">
            <a:off x="4096166" y="2833286"/>
            <a:ext cx="854670" cy="107530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45B014D8-BFA6-B2C5-3166-AAD84004C615}"/>
              </a:ext>
            </a:extLst>
          </p:cNvPr>
          <p:cNvSpPr/>
          <p:nvPr/>
        </p:nvSpPr>
        <p:spPr>
          <a:xfrm rot="16200000" flipH="1">
            <a:off x="4092715" y="4082357"/>
            <a:ext cx="854670" cy="107530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21DF7C-50E7-F18A-41CB-48162C4F6D49}"/>
              </a:ext>
            </a:extLst>
          </p:cNvPr>
          <p:cNvSpPr txBox="1"/>
          <p:nvPr/>
        </p:nvSpPr>
        <p:spPr>
          <a:xfrm>
            <a:off x="5911852" y="5325426"/>
            <a:ext cx="994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/>
              <a:t>בדיקה </a:t>
            </a:r>
            <a:r>
              <a:rPr lang="en-US" sz="2000" b="1" dirty="0"/>
              <a:t>Test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B999C-D773-0F69-014F-0C75B4DF380F}"/>
              </a:ext>
            </a:extLst>
          </p:cNvPr>
          <p:cNvSpPr txBox="1"/>
          <p:nvPr/>
        </p:nvSpPr>
        <p:spPr>
          <a:xfrm>
            <a:off x="5725551" y="2107117"/>
            <a:ext cx="1180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000" b="1" dirty="0"/>
              <a:t>אימון</a:t>
            </a:r>
            <a:r>
              <a:rPr lang="en-US" sz="2000" b="1" dirty="0"/>
              <a:t> Training</a:t>
            </a:r>
          </a:p>
        </p:txBody>
      </p:sp>
    </p:spTree>
    <p:extLst>
      <p:ext uri="{BB962C8B-B14F-4D97-AF65-F5344CB8AC3E}">
        <p14:creationId xmlns:p14="http://schemas.microsoft.com/office/powerpoint/2010/main" val="147987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בחירת הדאטה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dirty="0">
                <a:ea typeface="Calibri" panose="020F0502020204030204" pitchFamily="34" charset="0"/>
              </a:rPr>
              <a:t>ה</a:t>
            </a:r>
            <a:r>
              <a:rPr lang="he-IL" sz="2000" dirty="0">
                <a:effectLst/>
                <a:ea typeface="Calibri" panose="020F0502020204030204" pitchFamily="34" charset="0"/>
              </a:rPr>
              <a:t>דאטה-סט שנבחר, נלקח מאתר </a:t>
            </a:r>
            <a:r>
              <a:rPr lang="en-US" sz="2000" b="1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Kaggle.com</a:t>
            </a:r>
            <a:r>
              <a:rPr lang="he-IL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, ומכיל תמונות עבור שתי מחלות שונות של מחלות פירות-הדר.</a:t>
            </a:r>
          </a:p>
          <a:p>
            <a:pPr algn="r" rtl="1">
              <a:lnSpc>
                <a:spcPct val="150000"/>
              </a:lnSpc>
            </a:pPr>
            <a:r>
              <a:rPr lang="he-IL" sz="2000" dirty="0">
                <a:solidFill>
                  <a:schemeClr val="tx1"/>
                </a:solidFill>
                <a:latin typeface="David" panose="020E0502060401010101" pitchFamily="34" charset="-79"/>
              </a:rPr>
              <a:t>לאחר צמצום כל התמונות אשר אינן מתאימות לאימון המערכת (רקע לא טוב),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solidFill>
                  <a:schemeClr val="tx1"/>
                </a:solidFill>
                <a:latin typeface="David" panose="020E0502060401010101" pitchFamily="34" charset="-79"/>
              </a:rPr>
              <a:t>	נשאר דאטה-סט מצומצם.</a:t>
            </a:r>
          </a:p>
          <a:p>
            <a:pPr algn="r" rtl="1">
              <a:lnSpc>
                <a:spcPct val="150000"/>
              </a:lnSpc>
            </a:pPr>
            <a:r>
              <a:rPr lang="he-IL" sz="2000" dirty="0">
                <a:solidFill>
                  <a:schemeClr val="tx1"/>
                </a:solidFill>
                <a:latin typeface="David" panose="020E0502060401010101" pitchFamily="34" charset="-79"/>
              </a:rPr>
              <a:t>הדאטה סט כולל </a:t>
            </a:r>
            <a:r>
              <a:rPr lang="he-IL" sz="2000" dirty="0">
                <a:effectLst/>
                <a:ea typeface="Calibri" panose="020F0502020204030204" pitchFamily="34" charset="0"/>
              </a:rPr>
              <a:t>334 תמונות בכל קטגוריה, מספר קטן מידי אך ישמש כ"ממלא מקום" בזמן בניית המערכת.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92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בחירת המודל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מודל רשת ראשון שנבחר, נלקח </a:t>
            </a:r>
            <a:r>
              <a:rPr lang="he-I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מפרוייקט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לזיהוי צמחים, אך תהליך הלמידה 	נתקע במינימום מקומי ולכן הוחלט לנסות מודל אחר.</a:t>
            </a:r>
          </a:p>
          <a:p>
            <a:pPr marL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לכן-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מודל הרשת שנבחר הוא 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ResNet50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מתוך ספריית 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Pytorch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הרשת מתאימה למשימת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Classification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ולא נעשה שימוש במשקלים מאומנים 	מראש (מתוך ספריית 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Pytorch</a:t>
            </a:r>
            <a:r>
              <a:rPr lang="he-IL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)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מכיוון שרשת 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resnet50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מחזירה וקטור פלט של 1000 מחלקות שונות, (בהתאם 	ל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ImageNet dataset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he-IL" sz="2000" dirty="0">
                <a:latin typeface="Calibri" panose="020F0502020204030204" pitchFamily="34" charset="0"/>
                <a:ea typeface="Calibri" panose="020F0502020204030204" pitchFamily="34" charset="0"/>
              </a:rPr>
              <a:t> חיברנו את שכבת הפלט של הרשת באופן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Fully-Connected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	לשכבת 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output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נוספת המכילה 2 נויירונים.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כך, המודל שלנו </a:t>
            </a:r>
            <a:r>
              <a:rPr lang="he-IL" sz="2000" dirty="0">
                <a:latin typeface="Calibri" panose="020F0502020204030204" pitchFamily="34" charset="0"/>
                <a:ea typeface="Calibri" panose="020F0502020204030204" pitchFamily="34" charset="0"/>
              </a:rPr>
              <a:t>עושה שימוש 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ב-</a:t>
            </a:r>
            <a:r>
              <a:rPr lang="en-US" sz="2000" dirty="0"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resnet50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לבחירת 2 מחלקות שונות שהגדרנו 	בדאטה.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133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היפר פרמטרים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318000"/>
          </a:xfrm>
        </p:spPr>
        <p:txBody>
          <a:bodyPr>
            <a:noAutofit/>
          </a:bodyPr>
          <a:lstStyle/>
          <a:p>
            <a:pPr algn="r" rtl="1"/>
            <a:r>
              <a:rPr lang="he-IL" sz="2000" dirty="0"/>
              <a:t>מכיוון </a:t>
            </a:r>
            <a:r>
              <a:rPr lang="he-IL" sz="2000" dirty="0" err="1"/>
              <a:t>שהדאטה</a:t>
            </a:r>
            <a:r>
              <a:rPr lang="he-IL" sz="2000" dirty="0"/>
              <a:t> שעליו עבדנו היה מצומצם,</a:t>
            </a:r>
          </a:p>
          <a:p>
            <a:pPr marL="0" indent="0" algn="r" rtl="1">
              <a:buNone/>
            </a:pPr>
            <a:r>
              <a:rPr lang="he-IL" sz="2000" dirty="0"/>
              <a:t>	לא בוצעו יותר מ-5 </a:t>
            </a:r>
            <a:r>
              <a:rPr lang="en-US" sz="2000" dirty="0"/>
              <a:t>epochs</a:t>
            </a:r>
            <a:r>
              <a:rPr lang="he-IL" sz="2000" dirty="0"/>
              <a:t> לאימון המערכת.</a:t>
            </a:r>
          </a:p>
          <a:p>
            <a:pPr algn="r" rtl="1"/>
            <a:r>
              <a:rPr lang="he-IL" sz="2000" dirty="0"/>
              <a:t>המטרה </a:t>
            </a:r>
            <a:r>
              <a:rPr lang="he-IL" sz="2000" dirty="0" err="1"/>
              <a:t>היתה</a:t>
            </a:r>
            <a:r>
              <a:rPr lang="he-IL" sz="2000" dirty="0"/>
              <a:t> לבצע חזרות רבות עם </a:t>
            </a:r>
            <a:r>
              <a:rPr lang="en-US" sz="2000" dirty="0"/>
              <a:t>batch</a:t>
            </a:r>
            <a:r>
              <a:rPr lang="he-IL" sz="2000" dirty="0"/>
              <a:t>-ים קטנים, כך שבאימון המערכת יתבצעו תיקונים רבים אך מתונים!</a:t>
            </a:r>
          </a:p>
          <a:p>
            <a:pPr algn="r" rtl="1"/>
            <a:r>
              <a:rPr lang="he-IL" sz="2000" dirty="0"/>
              <a:t>תיקונים בוצעו במקרים של </a:t>
            </a:r>
            <a:r>
              <a:rPr lang="en-US" sz="2000" b="1" dirty="0"/>
              <a:t>overfitting</a:t>
            </a:r>
            <a:r>
              <a:rPr lang="he-IL" sz="2000" dirty="0"/>
              <a:t> (אימון גס מידי) או </a:t>
            </a:r>
            <a:r>
              <a:rPr lang="en-US" sz="2000" b="1" dirty="0"/>
              <a:t>underfitting</a:t>
            </a:r>
            <a:r>
              <a:rPr lang="he-IL" sz="2000" dirty="0"/>
              <a:t> (עצירה במינימום מקומי).</a:t>
            </a:r>
          </a:p>
          <a:p>
            <a:pPr algn="r" rtl="1"/>
            <a:r>
              <a:rPr lang="he-IL" sz="2000" dirty="0"/>
              <a:t>הפרמטרים שנבחרו הם: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2000" dirty="0"/>
              <a:t>EPOCHS = 5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2000" dirty="0"/>
              <a:t>Batch Size = 16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2000" dirty="0"/>
              <a:t>Learning Rate = 0.0001</a:t>
            </a:r>
          </a:p>
        </p:txBody>
      </p:sp>
    </p:spTree>
    <p:extLst>
      <p:ext uri="{BB962C8B-B14F-4D97-AF65-F5344CB8AC3E}">
        <p14:creationId xmlns:p14="http://schemas.microsoft.com/office/powerpoint/2010/main" val="1907425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כלים וספריות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sz="2000" dirty="0">
                <a:solidFill>
                  <a:schemeClr val="tx1"/>
                </a:solidFill>
              </a:rPr>
              <a:t>ספריות קוד בהן נעשה שימוש: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Pytorch</a:t>
            </a:r>
            <a:r>
              <a:rPr lang="he-IL" sz="2000" dirty="0">
                <a:solidFill>
                  <a:schemeClr val="tx1"/>
                </a:solidFill>
              </a:rPr>
              <a:t> – ספרייה עם כלים לבניית רשתות נוירונים וכן כלים לניהול ועבודה נוחה עם הדאטה שלנו.</a:t>
            </a:r>
            <a:endParaRPr lang="en-US" sz="2000" dirty="0">
              <a:solidFill>
                <a:schemeClr val="tx1"/>
              </a:solidFill>
            </a:endParaRP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Pytorch.TorchVision</a:t>
            </a:r>
            <a:r>
              <a:rPr lang="he-IL" sz="2000" dirty="0">
                <a:solidFill>
                  <a:schemeClr val="tx1"/>
                </a:solidFill>
              </a:rPr>
              <a:t> – ספרייה זו מביאה לנו מודלים מוכנים של </a:t>
            </a:r>
            <a:r>
              <a:rPr lang="en-US" sz="2000" dirty="0">
                <a:solidFill>
                  <a:schemeClr val="tx1"/>
                </a:solidFill>
              </a:rPr>
              <a:t>ANN</a:t>
            </a:r>
            <a:r>
              <a:rPr lang="he-IL" sz="2000" dirty="0">
                <a:solidFill>
                  <a:schemeClr val="tx1"/>
                </a:solidFill>
              </a:rPr>
              <a:t> וכן כלים נוספים לעבודה איתם.</a:t>
            </a:r>
            <a:endParaRPr lang="en-US" sz="2000" dirty="0">
              <a:solidFill>
                <a:schemeClr val="tx1"/>
              </a:solidFill>
            </a:endParaRP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Numpy</a:t>
            </a:r>
            <a:r>
              <a:rPr lang="he-IL" sz="2000" dirty="0">
                <a:solidFill>
                  <a:schemeClr val="tx1"/>
                </a:solidFill>
              </a:rPr>
              <a:t> – ספרייה לחישובים מתמטיים ועבודה עם וקטורים.</a:t>
            </a:r>
            <a:endParaRPr lang="en-US" sz="2000" dirty="0">
              <a:solidFill>
                <a:schemeClr val="tx1"/>
              </a:solidFill>
            </a:endParaRP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MatplotLib</a:t>
            </a:r>
            <a:r>
              <a:rPr lang="he-IL" sz="2000" dirty="0">
                <a:solidFill>
                  <a:schemeClr val="tx1"/>
                </a:solidFill>
              </a:rPr>
              <a:t> – אוסף כלים להצגה ויזואלית נוחה של המידע שלנו, כמו גרפים.</a:t>
            </a:r>
            <a:endParaRPr lang="en-US" sz="2000" dirty="0">
              <a:solidFill>
                <a:schemeClr val="tx1"/>
              </a:solidFill>
            </a:endParaRP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Pandas</a:t>
            </a:r>
            <a:r>
              <a:rPr lang="he-IL" sz="2000" dirty="0">
                <a:solidFill>
                  <a:schemeClr val="tx1"/>
                </a:solidFill>
              </a:rPr>
              <a:t> – בזכות ספרייה זו, יכולנו לעבוד בקלות עם מידע טבלאי ולשמור אותו בקלות לתיעוד להמשך. </a:t>
            </a:r>
          </a:p>
          <a:p>
            <a:pPr algn="r" rtl="1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64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כלים וספריות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318000"/>
          </a:xfrm>
        </p:spPr>
        <p:txBody>
          <a:bodyPr>
            <a:normAutofit lnSpcReduction="10000"/>
          </a:bodyPr>
          <a:lstStyle/>
          <a:p>
            <a:pPr algn="r" rtl="1"/>
            <a:r>
              <a:rPr lang="he-IL" sz="2000" dirty="0">
                <a:solidFill>
                  <a:schemeClr val="tx1"/>
                </a:solidFill>
              </a:rPr>
              <a:t>נלקח ממקורות חיצוניים: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/>
                </a:solidFill>
              </a:rPr>
              <a:t>מודל הרשת: מודל רשת </a:t>
            </a:r>
            <a:r>
              <a:rPr lang="he-IL" sz="2000" dirty="0" err="1">
                <a:solidFill>
                  <a:schemeClr val="tx1"/>
                </a:solidFill>
              </a:rPr>
              <a:t>הנויירונים</a:t>
            </a:r>
            <a:r>
              <a:rPr lang="he-IL" sz="2000" dirty="0">
                <a:solidFill>
                  <a:schemeClr val="tx1"/>
                </a:solidFill>
              </a:rPr>
              <a:t> שבו נעשה שימוש – </a:t>
            </a:r>
            <a:r>
              <a:rPr lang="en-US" sz="2000" dirty="0">
                <a:solidFill>
                  <a:schemeClr val="tx1"/>
                </a:solidFill>
              </a:rPr>
              <a:t>ResNet50</a:t>
            </a:r>
            <a:r>
              <a:rPr lang="he-IL" sz="2000" dirty="0">
                <a:solidFill>
                  <a:schemeClr val="tx1"/>
                </a:solidFill>
              </a:rPr>
              <a:t> – נלקח מספריית הקוד </a:t>
            </a:r>
            <a:r>
              <a:rPr lang="en-US" sz="2000" dirty="0">
                <a:solidFill>
                  <a:schemeClr val="tx1"/>
                </a:solidFill>
              </a:rPr>
              <a:t>Pytorch</a:t>
            </a:r>
            <a:r>
              <a:rPr lang="he-IL" sz="2000" dirty="0">
                <a:solidFill>
                  <a:schemeClr val="tx1"/>
                </a:solidFill>
              </a:rPr>
              <a:t>.</a:t>
            </a:r>
          </a:p>
          <a:p>
            <a:pPr algn="r" rtl="1"/>
            <a:r>
              <a:rPr lang="he-IL" sz="2000" dirty="0">
                <a:solidFill>
                  <a:schemeClr val="tx1"/>
                </a:solidFill>
              </a:rPr>
              <a:t>פיתוחים מקוריים: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/>
                </a:solidFill>
              </a:rPr>
              <a:t>מודל סופי – מודל הרשת הסופי עוטף את רשת </a:t>
            </a:r>
            <a:r>
              <a:rPr lang="en-US" sz="2000" dirty="0">
                <a:solidFill>
                  <a:schemeClr val="tx1"/>
                </a:solidFill>
              </a:rPr>
              <a:t>resnet50</a:t>
            </a:r>
            <a:r>
              <a:rPr lang="he-IL" sz="2000" dirty="0">
                <a:solidFill>
                  <a:schemeClr val="tx1"/>
                </a:solidFill>
              </a:rPr>
              <a:t> ומנתב אותה למספר מחלקות </a:t>
            </a:r>
            <a:r>
              <a:rPr lang="he-IL" sz="2000" dirty="0" err="1">
                <a:solidFill>
                  <a:schemeClr val="tx1"/>
                </a:solidFill>
              </a:rPr>
              <a:t>כרצונינו</a:t>
            </a:r>
            <a:r>
              <a:rPr lang="he-IL" sz="2000" dirty="0">
                <a:solidFill>
                  <a:schemeClr val="tx1"/>
                </a:solidFill>
              </a:rPr>
              <a:t>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/>
                </a:solidFill>
              </a:rPr>
              <a:t>ארגון הפלט – אלגוריתמים לניהול פלט המערכת -באימון ובבדיקה- ושמירתו בפורמט שקל לצפות בו (תמונות וגרפים) ובאופן שקל לעשות בו שימוש בהמשך (שמירת מידע טבלאי ב</a:t>
            </a:r>
            <a:r>
              <a:rPr lang="en-US" sz="2000" dirty="0">
                <a:solidFill>
                  <a:schemeClr val="tx1"/>
                </a:solidFill>
              </a:rPr>
              <a:t>CSV</a:t>
            </a:r>
            <a:r>
              <a:rPr lang="he-IL" sz="2000" dirty="0">
                <a:solidFill>
                  <a:schemeClr val="tx1"/>
                </a:solidFill>
              </a:rPr>
              <a:t>).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>
                <a:solidFill>
                  <a:schemeClr val="tx1"/>
                </a:solidFill>
              </a:rPr>
              <a:t>פונקציות אימון ובדיקה – תהליך האימון והבדיקה של המערכת פותח באופן עצמאי, על פי הדוקומנטציה של ספריות הקוד, מאמרים אינטרנטיים וניסוי-</a:t>
            </a:r>
            <a:r>
              <a:rPr lang="he-IL" sz="2000" dirty="0" err="1">
                <a:solidFill>
                  <a:schemeClr val="tx1"/>
                </a:solidFill>
              </a:rPr>
              <a:t>וטעייה</a:t>
            </a:r>
            <a:r>
              <a:rPr lang="he-IL" sz="2000" dirty="0">
                <a:solidFill>
                  <a:schemeClr val="tx1"/>
                </a:solidFill>
              </a:rPr>
              <a:t>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44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שיפורים אפשריים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algn="r" rtl="1"/>
            <a:r>
              <a:rPr lang="he-IL" sz="2000" dirty="0"/>
              <a:t>שיפורים אפשריים במערכת הקיימת: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/>
              <a:t>דאטה – ראשית, וכפי </a:t>
            </a:r>
            <a:r>
              <a:rPr lang="he-IL" sz="2000" dirty="0" err="1"/>
              <a:t>שצויין</a:t>
            </a:r>
            <a:r>
              <a:rPr lang="he-IL" sz="2000" dirty="0"/>
              <a:t> קודם לכן, הדאטה שנעשה בו שימוש לצורך הפיתוח היה מצומצם מידי, ולא מספיק מגוון. על מנת שהמערכת תוכל לבצע תהליך למידה רחב יותר המתאים לעולם האמיתי, עלינו ליצור דאטה-סט מקיף הרבה יותר. אוסף תמונות גדול יותר. פירות הדר נוספים עם אותן מחלות.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000" dirty="0"/>
              <a:t>מודל – מודל הרשת שבה נעשה שימוש הוא מודל כללי ל</a:t>
            </a:r>
            <a:r>
              <a:rPr lang="en-US" sz="2000" dirty="0"/>
              <a:t>Classification</a:t>
            </a:r>
            <a:r>
              <a:rPr lang="he-IL" sz="2000" dirty="0"/>
              <a:t>. ניתן לבחון מודלים מתחרים, או לחשוב על מודל חלופי משלנו לארכיטקטורת רשת </a:t>
            </a:r>
            <a:r>
              <a:rPr lang="he-IL" sz="2000" dirty="0" err="1"/>
              <a:t>הנויירונים</a:t>
            </a:r>
            <a:r>
              <a:rPr lang="he-I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689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שיפורים אפשריים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568874"/>
          </a:xfrm>
        </p:spPr>
        <p:txBody>
          <a:bodyPr>
            <a:noAutofit/>
          </a:bodyPr>
          <a:lstStyle/>
          <a:p>
            <a:pPr algn="r" rtl="1"/>
            <a:r>
              <a:rPr lang="he-IL" sz="2000" dirty="0"/>
              <a:t>שיפורים להמשך פיתוח עתידי של המערכת: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/>
              <a:t>Transfer Learning</a:t>
            </a:r>
            <a:r>
              <a:rPr lang="he-IL" sz="2000" dirty="0"/>
              <a:t> – רעיון מרכזי בפיתוח להמשך, הוא ביצוע "העברת-למידה" על מנת לאמן את המערכת שלנו להכיר סוגי מחלות חדשות. אנו נבצע שימוש במודל המאומן שלנו ונאמן אותו עם דאטה חדש  בכדי להוסיף לא מחלקות זיהוי חדשות. 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/>
              <a:t>Object Detection</a:t>
            </a:r>
            <a:r>
              <a:rPr lang="he-IL" sz="2000" dirty="0"/>
              <a:t> – רעיון נוסף שנדחה משלב הפיתוח הראשוני, הוא ניצול טכנולוגיה מתחום "ראייה ממוחשבת" לשם הוספת אספקט של זיהוי אובייקטים בתמונה. באופן זה המערכת שלנו תוכל לבצע "לכידה" של </a:t>
            </a:r>
            <a:r>
              <a:rPr lang="he-IL" sz="2000" dirty="0" err="1"/>
              <a:t>איזורי</a:t>
            </a:r>
            <a:r>
              <a:rPr lang="he-IL" sz="2000" dirty="0"/>
              <a:t> מחלה נפרדים באותו הפרי ולקטלג אותם בנפרד.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en-US" sz="2000" dirty="0"/>
              <a:t>UI</a:t>
            </a:r>
            <a:r>
              <a:rPr lang="he-IL" sz="2000" dirty="0"/>
              <a:t> – לשם נוחות השימוש, והפיכת המערכת שפיתחנו לכלי זמין, עלינו לפתח מנשק משתמש נוח להפעלה במחשב או מכשיר נייד. כרגע, המערכת עדיין מופעלת </a:t>
            </a:r>
            <a:r>
              <a:rPr lang="he-IL" sz="2000" dirty="0" err="1"/>
              <a:t>מופעלת</a:t>
            </a:r>
            <a:r>
              <a:rPr lang="he-IL" sz="2000" dirty="0"/>
              <a:t> בסביבת פיתוח תוכנה (</a:t>
            </a:r>
            <a:r>
              <a:rPr lang="en-US" sz="2000" dirty="0"/>
              <a:t>IDEA</a:t>
            </a:r>
            <a:r>
              <a:rPr lang="he-IL" sz="2000" dirty="0"/>
              <a:t>) ומציגה תוצאות באמצעות ספריית </a:t>
            </a:r>
            <a:r>
              <a:rPr lang="en-US" sz="2000" dirty="0"/>
              <a:t>Matplotlib</a:t>
            </a:r>
            <a:r>
              <a:rPr lang="he-IL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1368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ביבליוגרפיה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>
              <a:lnSpc>
                <a:spcPct val="150000"/>
              </a:lnSpc>
            </a:pPr>
            <a:r>
              <a:rPr lang="he-IL" sz="2000" b="0" i="0" dirty="0">
                <a:solidFill>
                  <a:schemeClr val="tx1"/>
                </a:solidFill>
                <a:effectLst/>
                <a:latin typeface="-apple-system"/>
              </a:rPr>
              <a:t>מקורות </a:t>
            </a:r>
            <a:r>
              <a:rPr lang="he-IL" sz="2000" dirty="0">
                <a:solidFill>
                  <a:schemeClr val="tx1"/>
                </a:solidFill>
                <a:latin typeface="-apple-system"/>
              </a:rPr>
              <a:t>מידע: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-apple-system"/>
                <a:hlinkClick r:id="rId2"/>
              </a:rPr>
              <a:t>https://blog.jovian.ai/using-pytorch-to-classify-flowers-ce297310a412/</a:t>
            </a:r>
            <a:endParaRPr lang="en-US" sz="20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-apple-system"/>
                <a:hlinkClick r:id="rId3"/>
              </a:rPr>
              <a:t>https://www.nature.com/articles/s41598-021-96103-2/</a:t>
            </a:r>
            <a:endParaRPr lang="en-US" sz="2000" dirty="0">
              <a:solidFill>
                <a:schemeClr val="tx1"/>
              </a:solidFill>
              <a:latin typeface="-apple-system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/>
                </a:solidFill>
                <a:effectLst/>
                <a:latin typeface="-apple-system"/>
                <a:hlinkClick r:id="rId4"/>
              </a:rPr>
              <a:t>https://efficientdl.com/faster-deep-learning-in-pytorch-a-guide/</a:t>
            </a:r>
            <a:endParaRPr lang="en-US" sz="2000" b="0" i="0" dirty="0">
              <a:solidFill>
                <a:schemeClr val="tx1"/>
              </a:solidFill>
              <a:effectLst/>
              <a:latin typeface="-apple-system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e-IL" sz="2000" b="0" i="0" dirty="0">
              <a:solidFill>
                <a:schemeClr val="tx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4354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7855-CDFC-01AE-462A-8896D4A78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dirty="0"/>
              <a:t>וידאו וקוד מקור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C156-9B67-8841-B410-C7890595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>
                <a:solidFill>
                  <a:schemeClr val="tx1"/>
                </a:solidFill>
                <a:latin typeface="-apple-system"/>
              </a:rPr>
              <a:t>קוד תוכנה: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  <a:latin typeface="-apple-system"/>
                <a:hlinkClick r:id="rId2"/>
              </a:rPr>
              <a:t>קישור לקוד המקור באתר </a:t>
            </a:r>
            <a:r>
              <a:rPr lang="en-US" sz="2400" dirty="0">
                <a:solidFill>
                  <a:schemeClr val="tx1"/>
                </a:solidFill>
                <a:latin typeface="-apple-system"/>
                <a:hlinkClick r:id="rId2"/>
              </a:rPr>
              <a:t>GitHub</a:t>
            </a:r>
            <a:endParaRPr lang="he-IL" sz="2400" dirty="0">
              <a:solidFill>
                <a:schemeClr val="tx1"/>
              </a:solidFill>
              <a:latin typeface="-apple-system"/>
            </a:endParaRPr>
          </a:p>
          <a:p>
            <a:pPr algn="r" rtl="1"/>
            <a:r>
              <a:rPr lang="he-IL" sz="2400" dirty="0">
                <a:solidFill>
                  <a:schemeClr val="tx1"/>
                </a:solidFill>
                <a:latin typeface="-apple-system"/>
              </a:rPr>
              <a:t>הצגת המערכת - וידאו: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  <a:latin typeface="-apple-system"/>
                <a:hlinkClick r:id="rId3"/>
              </a:rPr>
              <a:t>הסבר על הקוד</a:t>
            </a:r>
            <a:endParaRPr lang="he-IL" sz="2400" dirty="0">
              <a:solidFill>
                <a:schemeClr val="tx1"/>
              </a:solidFill>
              <a:latin typeface="-apple-system"/>
            </a:endParaRP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  <a:latin typeface="-apple-system"/>
                <a:hlinkClick r:id="rId4"/>
              </a:rPr>
              <a:t>הצגה מוקלטת של המצגת</a:t>
            </a:r>
            <a:endParaRPr lang="he-IL" sz="2400" dirty="0">
              <a:solidFill>
                <a:schemeClr val="tx1"/>
              </a:solidFill>
              <a:latin typeface="-apple-system"/>
            </a:endParaRP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he-IL" sz="2400" dirty="0">
                <a:solidFill>
                  <a:schemeClr val="tx1"/>
                </a:solidFill>
                <a:latin typeface="-apple-system"/>
                <a:hlinkClick r:id="rId5"/>
              </a:rPr>
              <a:t>הרצת התוכנית</a:t>
            </a:r>
            <a:endParaRPr lang="he-IL" sz="2400" dirty="0">
              <a:solidFill>
                <a:schemeClr val="tx1"/>
              </a:solidFill>
              <a:latin typeface="-apple-system"/>
            </a:endParaRPr>
          </a:p>
        </p:txBody>
      </p:sp>
      <p:pic>
        <p:nvPicPr>
          <p:cNvPr id="5" name="Graphic 4" descr="Video camera with solid fill">
            <a:extLst>
              <a:ext uri="{FF2B5EF4-FFF2-40B4-BE49-F238E27FC236}">
                <a16:creationId xmlns:a16="http://schemas.microsoft.com/office/drawing/2014/main" id="{9DF8EE3C-5993-3B91-90A2-4A7AA28AD8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1207" y="3642021"/>
            <a:ext cx="914400" cy="914400"/>
          </a:xfrm>
          <a:prstGeom prst="rect">
            <a:avLst/>
          </a:prstGeom>
        </p:spPr>
      </p:pic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7B0E70AE-A2F5-8910-E2D7-6E64C17E1E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1207" y="21570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003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2523</TotalTime>
  <Words>889</Words>
  <Application>Microsoft Office PowerPoint</Application>
  <PresentationFormat>Widescreen</PresentationFormat>
  <Paragraphs>105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-apple-system</vt:lpstr>
      <vt:lpstr>Arial</vt:lpstr>
      <vt:lpstr>Calibri</vt:lpstr>
      <vt:lpstr>David</vt:lpstr>
      <vt:lpstr>Trebuchet MS</vt:lpstr>
      <vt:lpstr>Wingdings 3</vt:lpstr>
      <vt:lpstr>Facet</vt:lpstr>
      <vt:lpstr>PowerPoint Presentation</vt:lpstr>
      <vt:lpstr>תוכן עניינים</vt:lpstr>
      <vt:lpstr>מטרת התוכנה</vt:lpstr>
      <vt:lpstr>קלט</vt:lpstr>
      <vt:lpstr>פלט</vt:lpstr>
      <vt:lpstr>תוכנית מימוש</vt:lpstr>
      <vt:lpstr>בחירת הדאטה</vt:lpstr>
      <vt:lpstr>בחירת המודל</vt:lpstr>
      <vt:lpstr>היפר פרמטרים</vt:lpstr>
      <vt:lpstr>כלים וספריות</vt:lpstr>
      <vt:lpstr>כלים וספריות</vt:lpstr>
      <vt:lpstr>שיפורים אפשריים</vt:lpstr>
      <vt:lpstr>שיפורים אפשריים</vt:lpstr>
      <vt:lpstr>ביבליוגרפיה</vt:lpstr>
      <vt:lpstr>וידאו וקוד מקור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Eran Avraham</dc:creator>
  <cp:lastModifiedBy>Eran Avraham</cp:lastModifiedBy>
  <cp:revision>84</cp:revision>
  <dcterms:created xsi:type="dcterms:W3CDTF">2022-11-20T11:04:43Z</dcterms:created>
  <dcterms:modified xsi:type="dcterms:W3CDTF">2023-01-08T20:12:25Z</dcterms:modified>
</cp:coreProperties>
</file>